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Calibri"/>
              </a:rPr>
              <a:t>Option A — NPV Range ($M)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NPV ($M)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&quot;$&quot;#,##0;-&quot;$&quot;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761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Worst Case</c:v>
                  </c:pt>
                  <c:pt idx="1">
                    <c:v>Base Case</c:v>
                  </c:pt>
                  <c:pt idx="2">
                    <c:v>Best Case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-55.9</c:v>
                </c:pt>
                <c:pt idx="1">
                  <c:v>272.6</c:v>
                </c:pt>
                <c:pt idx="2">
                  <c:v>672.7</c:v>
                </c:pt>
              </c:numCache>
            </c:numRef>
          </c:val>
        </c:ser>
        <c:dLbls>
          <c:numFmt formatCode="&quot;$&quot;#,##0;-&quot;$&quot;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761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57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9F0"/>
              </a:solidFill>
              <a:prstDash val="solid"/>
              <a:round/>
            </a:ln>
          </c:spPr>
        </c:majorGridlines>
        <c:numFmt formatCode="&quot;$&quot;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7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Calibri"/>
              </a:rPr>
              <a:t>Option B — NPV Range ($M)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NPV ($M)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&quot;$&quot;#,##0;-&quot;$&quot;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761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Worst Case</c:v>
                  </c:pt>
                  <c:pt idx="1">
                    <c:v>Base Case</c:v>
                  </c:pt>
                  <c:pt idx="2">
                    <c:v>Best Case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-4.1</c:v>
                </c:pt>
                <c:pt idx="1">
                  <c:v>55.2</c:v>
                </c:pt>
                <c:pt idx="2">
                  <c:v>251.2</c:v>
                </c:pt>
              </c:numCache>
            </c:numRef>
          </c:val>
        </c:ser>
        <c:dLbls>
          <c:numFmt formatCode="&quot;$&quot;#,##0;-&quot;$&quot;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761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57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9F0"/>
              </a:solidFill>
              <a:prstDash val="solid"/>
              <a:round/>
            </a:ln>
          </c:spPr>
        </c:majorGridlines>
        <c:numFmt formatCode="&quot;$&quot;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7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NPV ($M)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&quot;$&quot;#,##0;-&quot;$&quot;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761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9A22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F3C7E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Option A</c:v>
                  </c:pt>
                  <c:pt idx="1">
                    <c:v>Option B</c:v>
                  </c:pt>
                  <c:pt idx="2">
                    <c:v>Attach Effect</c:v>
                  </c:pt>
                  <c:pt idx="3">
                    <c:v>Total Combined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272.6</c:v>
                </c:pt>
                <c:pt idx="1">
                  <c:v>55.2</c:v>
                </c:pt>
                <c:pt idx="2">
                  <c:v>47.3</c:v>
                </c:pt>
                <c:pt idx="3">
                  <c:v>375.1</c:v>
                </c:pt>
              </c:numCache>
            </c:numRef>
          </c:val>
        </c:ser>
        <c:dLbls>
          <c:numFmt formatCode="&quot;$&quot;#,##0;-&quot;$&quot;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761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57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9F0"/>
              </a:solidFill>
              <a:prstDash val="solid"/>
              <a:round/>
            </a:ln>
          </c:spPr>
        </c:majorGridlines>
        <c:numFmt formatCode="&quot;$&quot;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7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31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 PRINT FRANCHISE PORTFOLIO PROJECT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74320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FY27 Investment Case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6118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Printer Generation Launch  vs.  Instant Ink Subscription Acceleration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4343400"/>
            <a:ext cx="201168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financial modeling case study built on HP Inc.'s public FY25 disclosures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 Cannon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&amp; FRAMING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Decision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6583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HP's own FY25 10-K names this tension directly: </a:t>
            </a:r>
            <a:pPr indent="0" marL="0">
              <a:buNone/>
            </a:pPr>
            <a:r>
              <a:rPr lang="en-US" sz="15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decline in the installed base and usage driving Supplies revenue down, met by a stated push toward subscription and recurring revenue as the mitigation strategy.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43200"/>
            <a:ext cx="6583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 investment prioritization within HP's Printing franchise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independent, individually fundable levers — run at different scopes, not equal footing (see Key Assumptions)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8.0% discount rate — midpoint of two independent, HPQ-specific third-party WACC estimates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horizon: FY27–FY31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452360" y="1417320"/>
            <a:ext cx="4206240" cy="4114800"/>
          </a:xfrm>
          <a:prstGeom prst="roundRect">
            <a:avLst>
              <a:gd name="adj" fmla="val 1778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26680" y="1645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FY25 ANCHORS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26680" y="21488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Printing segment revenue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241280" y="2148840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$16.8B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726680" y="280720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Supplies revenue decline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241280" y="2807208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-3.4% YoY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726680" y="3465576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unit decline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241280" y="3465576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-4.2% YoY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726680" y="4123944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ASP decline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241280" y="4123944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-1.5% YoY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726680" y="478231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Ink subscribers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241280" y="4782312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13M+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 Print Franchise Portfolio Project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Printer Generation Launch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5577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effect: parallel offset — the launch buys back one year of secular decline, not permanent immunity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Aftermarket recapture: new units carry a higher OEM ink capture rate than an aging fleet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launch cost: $150M–$300M, bounded against HP's real $1.6B company-wide R&amp;D spend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Two-line margin structure: 4% hardware, 28% supplies — reflects the real razor-and-blades economics</a:t>
            </a:r>
            <a:endParaRPr lang="en-US" sz="13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309360" y="1417320"/>
          <a:ext cx="53492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663440"/>
            <a:ext cx="5577840" cy="1737360"/>
          </a:xfrm>
          <a:prstGeom prst="roundRect">
            <a:avLst>
              <a:gd name="adj" fmla="val 5161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48463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$272.6M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546811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 NPV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3291840" y="484632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case is genuinely negative — a real finding,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modeling flaw.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 Print Franchise Portfolio Project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95" name="ScopeTag"/>
          <p:cNvSpPr txBox="1"/>
          <p:nvPr/>
        </p:nvSpPr>
        <p:spPr>
          <a:xfrm>
            <a:off x="822960" y="5779008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pPr indent="0" marL="0">
              <a:buNone/>
              <a:lnSpc>
                <a:spcPct val="105000"/>
              </a:lnSpc>
            </a:pPr>
            <a:r>
              <a:rPr lang="en-US" sz="850" b="1" spc="50" kern="0" dirty="0">
                <a:solidFill>
                  <a:srgbClr val="8A6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FULL PRINTING SEGMENT — CONSUMER + COMMERCIAL (SEE NOTE, SLIDE 9)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Instant Ink Subscription Acceleration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5577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global consumer/home — the remaining non-subscribed transactional cohort in an otherwise-mature market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acceleration: sustained push above the real, decelerating organic subscriber trend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$20–$60 per incremental subscriber, sized off the model's own derived ARPU (~$79/subscriber/yr)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Genuinely non-linear model — growth compounds; verified via Excel's native Data Table feature</a:t>
            </a:r>
            <a:endParaRPr lang="en-US" sz="13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309360" y="1417320"/>
          <a:ext cx="53492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663440"/>
            <a:ext cx="5577840" cy="1737360"/>
          </a:xfrm>
          <a:prstGeom prst="roundRect">
            <a:avLst>
              <a:gd name="adj" fmla="val 5161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48463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$55.2M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546811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 NPV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3291840" y="484632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absolute ceiling than Option A, but a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materially safer downside.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 Print Franchise Portfolio Project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96" name="ScopeTag"/>
          <p:cNvSpPr txBox="1"/>
          <p:nvPr/>
        </p:nvSpPr>
        <p:spPr>
          <a:xfrm>
            <a:off x="822960" y="5779008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pPr indent="0" marL="0">
              <a:buNone/>
              <a:lnSpc>
                <a:spcPct val="105000"/>
              </a:lnSpc>
            </a:pPr>
            <a:r>
              <a:rPr lang="en-US" sz="850" b="1" spc="50" kern="0" dirty="0">
                <a:solidFill>
                  <a:srgbClr val="8A6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GLOBAL CONSUMER/HOME SEGMENT ONLY (SEE NOTE, SLIDE 9)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SCENARIO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Coordinated Strategy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hardware thinking  →  independent subscription growth  →  converged strategy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011680"/>
          <a:ext cx="67665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589520" y="2011680"/>
            <a:ext cx="4069080" cy="4343400"/>
          </a:xfrm>
          <a:prstGeom prst="roundRect">
            <a:avLst>
              <a:gd name="adj" fmla="val 1905"/>
            </a:avLst>
          </a:prstGeom>
          <a:solidFill>
            <a:srgbClr val="1E276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63840" y="228600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$47.3M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7863840" y="29718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coordination value that neither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delivers funded alone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63840" y="3703320"/>
            <a:ext cx="329184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863840" y="388620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New-generation buyers convert to Instant Ink at the point of sale — a mechanism distinct from both Option A's OEM-capture economics and Option B's active-marketing push.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7863840" y="521208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as a directional estimate — a simple, un-netted sum of independently-verified components, not a precision figure. Option A and Option B run at different scopes (full Printing segment vs. global consumer/home — see Key Assumptions); read this sum as directional, not apples-to-apples addition.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 Print Franchise Portfolio Project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&amp; STRATEGIC SUMMARY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 Comparison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5394960" cy="1737360"/>
        </p:xfrm>
        <a:graphic>
          <a:graphicData uri="http://schemas.openxmlformats.org/drawingml/2006/table">
            <a:tbl>
              <a:tblPr/>
              <a:tblGrid>
                <a:gridCol w="1348740"/>
                <a:gridCol w="1348740"/>
                <a:gridCol w="1348740"/>
                <a:gridCol w="1348740"/>
              </a:tblGrid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 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B84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-$55.9M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$272.6M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$672.7M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 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B84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-$4.1M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$55.2M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$251.2M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Combined Scenario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$375.1M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33832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SCORING SNAPSHOT</a:t>
            </a:r>
            <a:endParaRPr lang="en-US" sz="11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03320"/>
          <a:ext cx="5394960" cy="2651760"/>
        </p:xfrm>
        <a:graphic>
          <a:graphicData uri="http://schemas.openxmlformats.org/drawingml/2006/table">
            <a:tbl>
              <a:tblPr/>
              <a:tblGrid>
                <a:gridCol w="1798320"/>
                <a:gridCol w="1798320"/>
                <a:gridCol w="1798320"/>
              </a:tblGrid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 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 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Opportunity size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 trajectory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84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Structural durability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84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Execution complexity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Cannibalization risk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84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Med-High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263640" y="141732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537960" y="16459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COMPARISON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6537960" y="2103120"/>
            <a:ext cx="48463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 carries the larger opportunity but a genuinely negative worst case, and its aftermarket edge resets rather than compounds as the fleet ages again.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 offers a materially safer downside and durable value once converted, but a smaller ceiling on its own.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dimension alone tells the full story — see the Recommendation.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 Print Franchise Portfolio Project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90" name="ScopeNote BG"/>
          <p:cNvSpPr/>
          <p:nvPr/>
        </p:nvSpPr>
        <p:spPr>
          <a:xfrm>
            <a:off x="6537960" y="4572000"/>
            <a:ext cx="4846320" cy="1645920"/>
          </a:xfrm>
          <a:prstGeom prst="roundRect">
            <a:avLst>
              <a:gd name="adj" fmla="val 4000"/>
            </a:avLst>
          </a:prstGeom>
          <a:solidFill>
            <a:srgbClr val="FBF0D9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91" name="ScopeNote Label"/>
          <p:cNvSpPr txBox="1"/>
          <p:nvPr/>
        </p:nvSpPr>
        <p:spPr>
          <a:xfrm>
            <a:off x="6720840" y="470916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6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SCOPE LIMITATION</a:t>
            </a:r>
          </a:p>
        </p:txBody>
      </p:sp>
      <p:sp>
        <p:nvSpPr>
          <p:cNvPr id="92" name="ScopeNote Body"/>
          <p:cNvSpPr txBox="1"/>
          <p:nvPr/>
        </p:nvSpPr>
        <p:spPr>
          <a:xfrm>
            <a:off x="6720840" y="4983480"/>
            <a:ext cx="4480560" cy="1143000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pPr indent="0" marL="0">
              <a:buNone/>
              <a:lnSpc>
                <a:spcPct val="105000"/>
              </a:lnSpc>
            </a:pPr>
            <a:r>
              <a:rPr lang="en-US" sz="10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limitation: Option A's economics are presented at full Printing-segment scale (all product lines, all generations, consumer and commercial combined). A real single-generation launch decision represents some fraction of this that HP does not publicly disclose and this model does not estimate. Figures here should be read as a ceiling case for a segment-wide refresh posture, not the literal economics of one product launch. Option B is scoped to the global consumer/home segment specifically.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515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 both, coordinated — not run independently.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331720"/>
            <a:ext cx="10515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 carries the larger base-case opportunity (~5x Option B's) but a genuinely negative worst case, and its aftermarket edge decays on its own clock as the refreshed fleet ages, resetting rather than compounding.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 offers a materially safer downside and durable, non-decaying value once converted, but a smaller absolute ceiling on its own.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stronger finding isn't which one to prioritize — it's that designing the subscription push to run in tandem with the hardware launch captures real additional value (~$47.3M in this model) that neither option delivers alone.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fund both, with Option B's marketing/enrollment strategy deliberately built around Option A's launch timeline — not scheduled independently.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 Print Franchise Portfolio Project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90879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3246120"/>
            <a:ext cx="201168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33832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1148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Assumptions, model detail, scoring rationale, and real-world context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Assumptions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4389120"/>
        </p:xfrm>
        <a:graphic>
          <a:graphicData uri="http://schemas.openxmlformats.org/drawingml/2006/table">
            <a:tbl>
              <a:tblPr/>
              <a:tblGrid>
                <a:gridCol w="3108960"/>
                <a:gridCol w="1554480"/>
                <a:gridCol w="64008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Assumption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Discount rate (WACC)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Midpoint of two independent, HPQ-specific third-party estimates (7.47% / 9.0%)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FY27–FY31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5-year window, same convention across both options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 margin (Opt. 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Derived from FY25 blended Printing margin (18.7%) and est. hardware mix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Supplies margin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Derived alongside hardware margin to reconcile the blended average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NPI launch cost (Opt. 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$150–300M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Bounded against HP's real $1.6B FY25 company-wide R&amp;D expense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 per subscriber (Opt. B)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$20–$60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Derived from the model's own implied ARPU (~$79/subscriber/yr)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Attach conversion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Softest assumption in the model; bounded by the real 60% HP+ shipment figure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 Print Franchise Portfolio Project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93" name="ScopeNote BG"/>
          <p:cNvSpPr/>
          <p:nvPr/>
        </p:nvSpPr>
        <p:spPr>
          <a:xfrm>
            <a:off x="548640" y="5870448"/>
            <a:ext cx="11064240" cy="566928"/>
          </a:xfrm>
          <a:prstGeom prst="roundRect">
            <a:avLst>
              <a:gd name="adj" fmla="val 6000"/>
            </a:avLst>
          </a:prstGeom>
          <a:solidFill>
            <a:srgbClr val="FBF0D9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94" name="ScopeNote Body"/>
          <p:cNvSpPr txBox="1"/>
          <p:nvPr/>
        </p:nvSpPr>
        <p:spPr>
          <a:xfrm>
            <a:off x="731520" y="5907024"/>
            <a:ext cx="10698480" cy="493776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indent="0" marL="0">
              <a:buNone/>
              <a:lnSpc>
                <a:spcPct val="100000"/>
              </a:lnSpc>
            </a:pPr>
            <a:r>
              <a:rPr lang="en-US" sz="8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Scope limitation — read before citing these figures together: Option A is scoped at full global Printing-segment scale (all product lines/generations, consumer + commercial combined); a single-generation launch is some undisclosed fraction of this, so these are ceiling-case figures for a segment-wide refresh, not one launch’s literal economics. Option B is scoped to the global consumer/home segment (relabeled from “US consumer/home” — Instant Ink operates in the US, Canada, Australia, NZ, and most of Europe). HP discloses no consumer/commercial or per-product-line revenue split — this gap is stated here, not papered over.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 A — Sensitivity Grid (illustrative)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model: 16×16 grid, Recapture Premium × NPI Cost. Sample shown below.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80160" y="1965960"/>
          <a:ext cx="9601200" cy="329184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47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84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A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84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AD6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$437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$381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$471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$443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DE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$672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$589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$561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DE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440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Rows: Recapture Premium  •  Columns: NPI Launch Cost  •  Values: NPV ($M)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760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16×16 grid, conditional formatting, and toggle-independent construction detailed in the accompanying Excel model.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 Print Franchise Portfolio Project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 B — Sensitivity Grid (illustrative)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model: 7×7 grid, Growth Acceleration × CAC. Confirmed non-linear — built via Excel's native Data Table.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965960"/>
          <a:ext cx="10332720" cy="3291840"/>
        </p:xfrm>
        <a:graphic>
          <a:graphicData uri="http://schemas.openxmlformats.org/drawingml/2006/table">
            <a:tbl>
              <a:tblPr/>
              <a:tblGrid>
                <a:gridCol w="1291590"/>
                <a:gridCol w="1291590"/>
                <a:gridCol w="1291590"/>
                <a:gridCol w="1291590"/>
                <a:gridCol w="1291590"/>
                <a:gridCol w="1291590"/>
                <a:gridCol w="1291590"/>
                <a:gridCol w="129159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$26.67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$33.33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$46.67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$53.33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84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AD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84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AD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84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AD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84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AD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84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$-19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AD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84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AD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84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AD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440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Rows: Growth Acceleration  •  Columns: CAC per Incremental Subscriber  •  Values: NPV ($M)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760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surface — confirmed before building, by checking that the Base/Base value did not equal the average of the two opposite corners.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 Print Franchise Portfolio Project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Scoring Framework Detail</a:t>
            </a: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4846320"/>
        </p:xfrm>
        <a:graphic>
          <a:graphicData uri="http://schemas.openxmlformats.org/drawingml/2006/table">
            <a:tbl>
              <a:tblPr/>
              <a:tblGrid>
                <a:gridCol w="2103120"/>
                <a:gridCol w="731520"/>
                <a:gridCol w="822960"/>
                <a:gridCol w="7406640"/>
              </a:tblGrid>
              <a:tr h="538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Rationale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Opportunity size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touches the entire $16.8B segment; B targets ~10% (Supplies subscription slice, internally estimated)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 trajectory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 declining ~3–4%/yr; subscriber base growing ~7–9%/yr organically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Competitive intensity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Low-Med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Generic-cartridge and big-tank competition named directly in HP's 10-K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Structural durability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A's edge resets, not compounds, as the fleet ages again; B shows real &gt;90% subscriber retention (2020 HP filing)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 with capabilities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established NPI process. B: subscription billing infra already at scale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Execution complexity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requires a full hardware program; B is a marketing/enrollment push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Time-to-impact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NPI cycles take real planning time; a campaign can launch quickly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Cannibalization risk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Med-High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B's best acquisition targets — high-usage, loyal transactional buyers — are also its most valuable customers being given 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 Print Franchise Portfolio Project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— EPILOGUE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Looked Like in Practice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dynamics from my own experience at HP — not modeled in the quantitative build above.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24028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Cannibalization discourse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17520"/>
            <a:ext cx="30632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strategic discourse existed around cannibalization risk as subscription grew relative to the traditional hardware and cartridge model.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0" y="201168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63440" y="224028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LTV uplift wasn't a given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3017520"/>
            <a:ext cx="30632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Instant Ink drove a lifetime-value uplift at all — not just its magnitude — was genuinely contested internally, and that debate led to real, consequential decisions: a pricing structure change, and the elimination of a plan tier.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0" y="201168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503920" y="224028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“forgotten subscription” effect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503920" y="3017520"/>
            <a:ext cx="30632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subscription value came from customers who functionally forgot they were subscribed — a real, positive effect for Instant Ink, but not something to design a strategy around.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 Print Franchise Portfolio Project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39496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 Inc. Form 10-K, FY2025 (SEC EDGAR)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 Inc. FY25 Full Year &amp; Quarterly Earnings Releases (SEC 8-Ks)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Spread — HPQ Discount Rate (WACC estimate)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valueinvesting.io — HPQ WACC, Cost of Equity/Debt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MacroTrends — HP R&amp;D Expenses, 2012–2026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263640" y="1554480"/>
            <a:ext cx="539496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 management commentary, Morgan Stanley TMT Conference (Mar 2024)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 Securities Analyst Meeting commentary (Oct 2023)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 Inc. SEC Form SC 14D9C, 2020 (investor presentation)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Harvard Business School — “HP Instant Ink” case listing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 investor/press commentary on Printing segment economics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897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bibliography with direct links maintained in the project's working context file.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 Print Franchise Portfolio Project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2026-09-22T21:31:24Z</dcterms:created>
  <dcterms:modified xsi:type="dcterms:W3CDTF">2026-09-22T21:31:24Z</dcterms:modified>
</cp:coreProperties>
</file>